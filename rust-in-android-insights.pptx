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绝对量：10万 → 150万 → 500万 → 695万行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Rust（百万行）</c:v>
                </c:pt>
              </c:strCache>
            </c:strRef>
          </c:tx>
          <c:spPr>
            <a:solidFill>
              <a:srgbClr val="B7410E"/>
            </a:solidFill>
          </c:spPr>
          <c:cat>
            <c:strRef>
              <c:f>Sheet1!$A$2:$A$5</c:f>
              <c:strCache>
                <c:ptCount val="4"/>
                <c:pt idx="0">
                  <c:v>2021-06
官方</c:v>
                </c:pt>
                <c:pt idx="1">
                  <c:v>2022-12
A13 官方</c:v>
                </c:pt>
                <c:pt idx="2">
                  <c:v>2025-11
官方</c:v>
                </c:pt>
                <c:pt idx="3">
                  <c:v>2026-06
全树统计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1.5</c:v>
                </c:pt>
                <c:pt idx="2">
                  <c:v>5.0</c:v>
                </c:pt>
                <c:pt idx="3">
                  <c:v>6.95</c:v>
                </c:pt>
              </c:numCache>
            </c:numRef>
          </c:val>
        </c:ser>
        <c:dLbls>
          <c:numFmt formatCode="0.00&quot;M&quot;" sourceLinked="0"/>
          <c:txPr>
            <a:bodyPr/>
            <a:lstStyle/>
            <a:p>
              <a:pPr>
                <a:defRPr sz="105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对比 C++：Rust/C++ 比值 7.3%→7.7%；C/C++ 占比 54.7%→49%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Rust ÷ C/C++（全树）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AOSP 14
(2024)</c:v>
                </c:pt>
                <c:pt idx="1">
                  <c:v>AOSP 16
(2025)</c:v>
                </c:pt>
                <c:pt idx="2">
                  <c:v>AOSP 17
(2026)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0.073</c:v>
                </c:pt>
                <c:pt idx="1">
                  <c:v>0.075</c:v>
                </c:pt>
                <c:pt idx="2">
                  <c:v>0.077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C/C++ 占全树比例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AOSP 14
(2024)</c:v>
                </c:pt>
                <c:pt idx="1">
                  <c:v>AOSP 16
(2025)</c:v>
                </c:pt>
                <c:pt idx="2">
                  <c:v>AOSP 17
(2026)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0.547</c:v>
                </c:pt>
                <c:pt idx="1">
                  <c:v>0.519</c:v>
                </c:pt>
                <c:pt idx="2">
                  <c:v>0.49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9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B49B"/>
                </a:solidFill>
                <a:latin typeface="微软雅黑"/>
                <a:ea typeface="微软雅黑"/>
                <a:cs typeface="微软雅黑"/>
              </a:rPr>
              <a:t>调研报告 · 基于 AOSP main 源码统计与 Google 官方博客 13 篇原文 · 2026-08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Rust 在 Android 中的落地情况</a:t>
            </a:r>
          </a:p>
          <a:p>
            <a:r>
              <a:rPr sz="4000" b="1" i="0">
                <a:solidFill>
                  <a:srgbClr val="F08A4B"/>
                </a:solidFill>
                <a:latin typeface="微软雅黑"/>
                <a:ea typeface="微软雅黑"/>
                <a:cs typeface="微软雅黑"/>
              </a:rPr>
              <a:t>位置逐年下沉，规模持续增长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C9D2DA"/>
                </a:solidFill>
                <a:latin typeface="微软雅黑"/>
                <a:ea typeface="微软雅黑"/>
                <a:cs typeface="微软雅黑"/>
              </a:rPr>
              <a:t>内容：架构位置 → 七年演进 → 代码量趋势 → 混合编程方案 → 实际项目分析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C9D2DA"/>
                </a:solidFill>
                <a:latin typeface="微软雅黑"/>
                <a:ea typeface="微软雅黑"/>
                <a:cs typeface="微软雅黑"/>
              </a:rPr>
              <a:t>两个主要结论：Rust 进入的层越来越低、隔离措施逐步减少；收益不只是安全，还有开发效率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AA5B0"/>
                </a:solidFill>
                <a:latin typeface="微软雅黑"/>
                <a:ea typeface="微软雅黑"/>
                <a:cs typeface="微软雅黑"/>
              </a:rPr>
              <a:t>数据基础：rust-in-aosp.md + 五个代表性库的源码分析（G:\aosp-scan 45+ 仓库）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第 1 页 · AOSP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Rust 用在 ART 以下的层：ART 之上 Java/Kotlin 已经是内存安全语言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54480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① 应用层</a:t>
            </a: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    Java / Kotlin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07808" y="1892808"/>
            <a:ext cx="402336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本来就是内存安全语言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96312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② 应用框架（system_server）</a:t>
            </a: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    Java / Kotlin + JNI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606040"/>
            <a:ext cx="402336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本来就是内存安全语言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9544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③ ART / 运行时</a:t>
            </a: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    Java 托管执行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3319272"/>
            <a:ext cx="402336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有 GC——Rust 不进入这一层及以上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22776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Native 库与守护进程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keystore2 · 蓝牙 gd · UWB · DoH3 · libbinder_rs · libprefetch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4032504"/>
            <a:ext cx="4023360" cy="438912"/>
          </a:xfrm>
          <a:prstGeom prst="roundRect">
            <a:avLst>
              <a:gd name="adj" fmla="val 6000"/>
            </a:avLst>
          </a:prstGeom>
          <a:solidFill>
            <a:srgbClr val="E9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Rust 代码量最大的一层（2021 起）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36008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HAL（AIDL）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KeyMint HAL · 蓝牙 offload HAL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4745736"/>
            <a:ext cx="4023360" cy="438912"/>
          </a:xfrm>
          <a:prstGeom prst="roundRect">
            <a:avLst>
              <a:gd name="adj" fmla="val 6000"/>
            </a:avLst>
          </a:prstGeom>
          <a:solidFill>
            <a:srgbClr val="E9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AIDL 接口不变，只换实现语言（2022 起）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内核 / 固件 / TEE / 基带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ashmem 驱动 · pvmfw · Trusty TA · libavb · Pixel 基带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7808" y="5458968"/>
            <a:ext cx="4023360" cy="438912"/>
          </a:xfrm>
          <a:prstGeom prst="roundRect">
            <a:avLst>
              <a:gd name="adj" fmla="val 6000"/>
            </a:avLst>
          </a:prstGeom>
          <a:solidFill>
            <a:srgbClr val="E9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5A6E"/>
                </a:solidFill>
                <a:latin typeface="微软雅黑"/>
                <a:ea typeface="微软雅黑"/>
                <a:cs typeface="微软雅黑"/>
              </a:rPr>
              <a:t>无操作系统环境，需要 no_std（2023–26）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1733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原则：只在 Java/Kotlin 覆盖不到的地方用 Rust。③层及以上已经有 GC 语言保证内存安全，没有替换的必要（2021 官方原文）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数据来源：rust-in-aosp.md §一；source.android.com 架构文档；security.googleblog.com 2021-04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7395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第 2 页 · 七年演进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进入的层越来越低，配套的隔离措施越来越少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54480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754880" cy="768096"/>
          </a:xfrm>
          <a:prstGeom prst="roundRect">
            <a:avLst>
              <a:gd name="adj" fmla="val 6000"/>
            </a:avLst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2021 · Native 守护进程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keystore2 · profcollectd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隔离方式：独立进程，经 AIDL/FFI 与 C++ 交互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624328"/>
            <a:ext cx="4754880" cy="768096"/>
          </a:xfrm>
          <a:prstGeom prst="roundRect">
            <a:avLst>
              <a:gd name="adj" fmla="val 6000"/>
            </a:avLst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2022 · 协议栈 / 虚拟化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UWB · DoH3 · AVF/Microdroid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隔离方式：同一 APEX 模块内与 C++ 混合编译（cxx）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465576"/>
            <a:ext cx="4754880" cy="768096"/>
          </a:xfrm>
          <a:prstGeom prst="roundRect">
            <a:avLst>
              <a:gd name="adj" fmla="val 6000"/>
            </a:avLst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2023 · TEE / 裸机固件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pvmfw · Trusty TA · libavb 封装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隔离方式：no_std，不依赖操作系统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306824"/>
            <a:ext cx="4754880" cy="768096"/>
          </a:xfrm>
          <a:prstGeom prst="roundRect">
            <a:avLst>
              <a:gd name="adj" fmla="val 6000"/>
            </a:avLst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2025 · 内核地址空间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ashmem 驱动（6.12 GKI 量产）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隔离方式：与 C 内核同一地址空间、同一套构建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5148072"/>
            <a:ext cx="4754880" cy="768096"/>
          </a:xfrm>
          <a:prstGeom prst="roundRect">
            <a:avLst>
              <a:gd name="adj" fmla="val 6000"/>
            </a:avLst>
          </a:prstGeom>
          <a:solidFill>
            <a:srgbClr val="7A1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25400" bIns="25400"/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 · 基带固件</a:t>
            </a: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Pixel 10 基带 DNS 解析器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隔离方式：可被远程攻击的最底层组件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783080"/>
            <a:ext cx="4343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“围栏”指什么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早期每引入一处 Rust 都配有明确的隔离措施：独立进程、APEX 模块边界、较厚的 FFI 封装层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隔离为什么越来越少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互操作工具成熟（cxx/AIDL）→ Rust 与 C++ 在同一模块内混合编译；Rust-for-Linux 成熟 → 进入内核同一地址空间；no_std 成熟 → 进入 TEE/固件/基带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目前剩下的隔离只有 unsafe 块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进程/模块级的隔离取消后，需要人工审查的代码收敛为约 4% 的 unsafe{} 块，集中在 FFI 边界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为什么越低的层进入越晚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每往下一层都要先解决该层的工程问题：no_std、代码体积、厂商构建系统、内核 API 封装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2021–2026 各篇（已回源）；rust-in-aosp.md §1.3/§一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第 3 页 · 代码量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总量五年从 10 万行到 695 万行；相对 C++ 的占比持续上升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54480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5394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783080"/>
          <a:ext cx="548640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新代码中的占比更高</a:t>
            </a:r>
            <a:r>
              <a:rPr sz="120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：Android 13 新增原生代码 21% 为 Rust（2022，官方）；2025-11 官方确认 Rust 净增行数已超过 C++</a:t>
            </a:r>
          </a:p>
          <a:p>
            <a:r>
              <a:rPr sz="11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存量 C/C++ 仍在增长（6836万→9009万行）——策略本来就是新代码用 Rust、旧代码不动；平台自己的 Rust 代码两年增长 3.6 倍（7.8万→35.8万行）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数据来源：官方博客 2021/2022/2025（已回源）；derdilla 全树统计 AOSP 14/16/17（tokei）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第 4 页 · 混合编程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与 C/C++ 的互操作方案：先量化验证可行性（87% 可对接），再大规模投入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54480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4023360"/>
                <a:gridCol w="25603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 / 机制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AOSP 实战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bindgen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 C 头文件自动生成 Rust 绑定（生成的代码是 unsafe）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libbinder_ndk、libavb——生成代码不对外暴露，其上再封装安全 API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已有稳定 C ABI 的库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cxx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C++ ↔ Rust 双向调用，类型不匹配在编译期报错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蓝牙 gd 栈渐进迁移（bridge 代码生成写进 Android.bp）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C++ 耦合较深的现有代码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AIDL Rust 后端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接口定义一次，自动生成 Rust/C++/Java 三种绑定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keystore2、KeyMint HAL——接口不变、只换实现语言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 / HAL 边界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autocxx / bindgen 宏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 Rust 代码里直接描述要调用的 C++ 接口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平台工具与测试组件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调用点少的轻量集成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cbindgen / crubit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Rust → C 头文件 / 双向自动绑定（仍在开发）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crubit 是 Google 100 万美元互操作专项的方向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Rust 代码导出给 C 用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292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可行性是先用数据验证过的（2021-06 官方原文）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：最常用的 C++ 库，81% 的导出类型可以直接对接、87% 可以低成本对接；Mainline 模块为 88%/90%</a:t>
            </a:r>
          </a:p>
          <a:p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两条工程约定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：① 接口保持粗粒度——锁、句柄等状态不跨语言传递；② unsafe 集中管理——unsafe 只出现在 FFI 边界，全平台约 4% 的 Rust 代码在 unsafe 块内</a:t>
            </a:r>
          </a:p>
          <a:p>
            <a:r>
              <a:rPr sz="12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结论：混合编程不是临时过渡——数千万行 C/C++ 会长期存在，互操作的质量直接决定 Rust 能进入多深的层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数据来源：security.googleblog.com 2021-06、2024-02（已回源）；G:\aosp-scan Android.bp 实证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B7410E"/>
                </a:solidFill>
                <a:latin typeface="微软雅黑"/>
                <a:ea typeface="微软雅黑"/>
                <a:cs typeface="微软雅黑"/>
              </a:rPr>
              <a:t>第 5 页 · 实际项目分析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五个实际项目：Rust 的语言特性分别解决了什么具体问题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554480"/>
            <a:ext cx="1234440" cy="40640"/>
          </a:xfrm>
          <a:prstGeom prst="rect">
            <a:avLst/>
          </a:prstGeom>
          <a:solidFill>
            <a:srgbClr val="B7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51760"/>
                <a:gridCol w="3840480"/>
                <a:gridCol w="27432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项目（所在层）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要解决的问题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用到的 Rust 特性及效果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代码数据</a:t>
                      </a:r>
                    </a:p>
                  </a:txBody>
                  <a:tcPr marT="38100" marB="38100" anchor="ctr">
                    <a:solidFill>
                      <a:srgbClr val="145A6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libbinder_rs
③ IPC 基础库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接口的引用计数、指针有效期、线程安全都只靠文档约定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所有权 + Drop 自动配对引用计数；Send+Sync 使服务实现必须线程安全（否则编译失败）；Result 强制检查错误码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308 处 unsafe 全部集中在 FFI 边界，业务代码近零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KeyMint
③④⑥ 密钥服务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TEE 内存少且不可换页；输入不可信；泄露后果最严重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枚举表达算法状态机并按算法限制输入大小；ZeroizeOnDrop 析构时清零密钥；try_reserve 处理分配失败；no_std 使同一份代码可编入 TEE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23,392 行仅 27 处 unsafe（0.12%）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蓝牙 GATT
③ 协议栈（APEX）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对端报文不可信 + 多连接并发，C 实现漏洞多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报文由 PDL 生成类型化结构体，无手工指针操作；WeakBox 弱引用避免对象释放后回调；单线程 async 避免数据竞争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10,497 行 GATT server 没有 unsafe 块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libavb-rust
⑥ 固件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回调的数据所有权只在文档里说明；验证代码自身也解析不可信数据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Ops&lt;'a&gt; 用生命周期参数让编译器检查 C 回调的所有权约定；Descriptor&lt;'a&gt; 零拷贝解析，Unknown 变体保证向前兼容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 处 unsafe 每处都带 SAFETY 注释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libprefetch
③ init 启动路径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开机性能敏感；没有安全压力仍选了 Rust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RAII 自动配对日志与句柄；Result 使错误路径不可忽略；直接用 crates.io 现成库（nix/serde/lru_cache）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7424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全模块仅 1 个 unsafe 函数（系统调用）</a:t>
                      </a:r>
                    </a:p>
                  </a:txBody>
                  <a:tcPr marT="38100" marB="38100"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5321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两种情况</a:t>
            </a:r>
            <a:r>
              <a:rPr sz="1250" b="0" i="0">
                <a:solidFill>
                  <a:srgbClr val="37424F"/>
                </a:solidFill>
                <a:latin typeface="微软雅黑"/>
                <a:ea typeface="微软雅黑"/>
                <a:cs typeface="微软雅黑"/>
              </a:rPr>
              <a:t>：前四个项目主要解决安全问题（整类漏洞在编译期消除）；第五个说明即使不考虑安全，Rust 在开发效率上也被工程师主动选择</a:t>
            </a:r>
          </a:p>
          <a:p>
            <a:r>
              <a:rPr sz="1250" b="0" i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官方效率数据（2025-11）：Rust 代码评审耗时少约 25%、返工轮次少约 20%、中大型变更回滚率约低 4 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数据来源：代表性rust库分析/ 五份独立报告（G:\aosp-scan 源码分析）；security.googleblog.com 2025-11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B75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